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322" r:id="rId2"/>
    <p:sldId id="323" r:id="rId3"/>
    <p:sldId id="338" r:id="rId4"/>
    <p:sldId id="325" r:id="rId5"/>
    <p:sldId id="324" r:id="rId6"/>
    <p:sldId id="326" r:id="rId7"/>
    <p:sldId id="327" r:id="rId8"/>
    <p:sldId id="328" r:id="rId9"/>
    <p:sldId id="329" r:id="rId10"/>
    <p:sldId id="331" r:id="rId11"/>
    <p:sldId id="330" r:id="rId12"/>
    <p:sldId id="332" r:id="rId13"/>
    <p:sldId id="340" r:id="rId14"/>
    <p:sldId id="333" r:id="rId15"/>
    <p:sldId id="339" r:id="rId16"/>
    <p:sldId id="335" r:id="rId17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2B3A"/>
    <a:srgbClr val="074259"/>
    <a:srgbClr val="0015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18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6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4A038F2-C4F3-BB52-561F-CD25922BEBE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A604C6-46E9-C0BA-3F41-8BA7375B0D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8C8F81-3007-4006-B441-0382BA1FCFC1}" type="datetimeFigureOut">
              <a:rPr lang="en-DE" smtClean="0"/>
              <a:t>06/12/2025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10F50D-09AD-8523-0AA8-E07EC6566E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/>
              <a:t>Aqeel</a:t>
            </a:r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E879B0-55A9-C415-0A4F-372B739F84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2B71F9-FFD0-408B-AE69-4CB9A0E8DCC8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6697301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8D6508-41BB-4460-9858-4CF52D542102}" type="datetimeFigureOut">
              <a:rPr lang="en-DE" smtClean="0"/>
              <a:t>06/12/2025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/>
              <a:t>Aqeel</a:t>
            </a:r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580398-0202-4B18-9322-B5A0CDED941E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4628566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580398-0202-4B18-9322-B5A0CDED941E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649834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BA823-C918-6DD7-546B-AB4268A24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C5706E-B4FE-0C6F-61FE-B089DD66ED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00187A-E671-53A9-4E78-63D3B7443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933FA-A786-48B1-B172-2947F5A51588}" type="datetimeyyyy">
              <a:rPr lang="en-DE" smtClean="0"/>
              <a:t>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99BF2-4C05-7D46-0098-96EADF96E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2632EB-3E9A-41B7-2D90-E0E59A6CD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648827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03679-69C0-C69F-E3EE-78783D818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E1874-66CA-C11B-4F4C-3EA61A0F95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12F592-CFB7-45F3-B9CD-1EC2A85B9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403A6-3B42-4473-A30E-6DB7E88DCE5F}" type="datetimeyyyy">
              <a:rPr lang="en-DE" smtClean="0"/>
              <a:t>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DA2AF9-4A3E-3689-A8D2-91ABCDB91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6CB10-550E-49A5-99AA-1609331E1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86694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928B6-7CD7-9D7F-1CE1-8D30D72EA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C32789-4E70-11A7-5AAB-1248852CC7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8D8730-CF63-EEEC-07CA-341B18E67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576AA-1F44-427F-BE46-A79AFA67B322}" type="datetimeyyyy">
              <a:rPr lang="en-DE" smtClean="0"/>
              <a:t>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20CA6-0889-88F7-C6E1-7C32EF5DD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42519-5F30-D0FB-675F-1079C1E4E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646901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970A2-841E-872F-0071-62887358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3ADBC-7398-F721-AB6A-54C8B07761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267F36-3BE9-C638-F8A8-5AB3833CE2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2D5DFB-ED17-A5E8-375D-2518EE978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9F72B-9DDB-4ABD-8F34-35D21149FE81}" type="datetimeyyyy">
              <a:rPr lang="en-DE" smtClean="0"/>
              <a:t>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ADC988-3AAA-CB9E-F364-EF946B4C5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CD418D-456F-060C-4B54-B583E9747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719619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4D80D-4D80-6643-61B7-D4E4B6A33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9A65E-5A97-B1B3-4046-0A1B74362A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63E378-A253-6A22-40A7-7450223381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79C35E-05D2-01C6-9A41-1FDB3AD367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77DA74-0E12-DB47-EEC6-31D82D1F41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5EE09E-9224-CCF0-A054-46C80D66A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8F6E2-7FCF-4292-A70D-A9E206AA97BA}" type="datetimeyyyy">
              <a:rPr lang="en-DE" smtClean="0"/>
              <a:t>2025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D58E89-731A-2A52-FD71-B560497B5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5FB9126-21CB-6C20-40F3-EF0FA35D6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51296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5C851-1688-DD89-969C-EFD6D3F99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4BD9F4-944A-165C-C6F2-CA034CF35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BB4AD-6300-494A-ADBD-7502F6068260}" type="datetimeyyyy">
              <a:rPr lang="en-DE" smtClean="0"/>
              <a:t>2025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68B812-FCAE-8DF8-0FBD-05DADBB91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FE482D-4657-9410-61E3-A242A8013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691440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CD79E8-16EE-E3E8-43E0-9811BF24B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67BDB-7F8D-4C13-A4E7-2A84C2344A4E}" type="datetimeyyyy">
              <a:rPr lang="en-DE" smtClean="0"/>
              <a:t>2025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5241B2-72C9-2364-7C00-34B1B461F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5427E-231A-0B43-372B-86A5A3EA7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885980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F7224-3004-7F4B-E1C5-5A05BE937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40AB3-2B9A-9E34-B993-DBCB7A6216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3F4D24-E7A1-545A-9B56-33F241F344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4894C0-404F-23F0-9E14-DCAE0EF63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08744-9BAC-4D3F-9E2C-87CF7757056E}" type="datetimeyyyy">
              <a:rPr lang="en-DE" smtClean="0"/>
              <a:t>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F21BBA-4A56-6DBA-4C56-44E6BD0BF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1D3FB1-7005-AF6D-BD03-9C05E66DD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09157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39148-E533-9E7C-AEA0-17CC9DB71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B8735C-59BD-6CA9-856C-081A9572DD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69D08B-EFF8-2CD5-521D-E620687D88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899A8D-1F3B-42A7-F5CB-8ED52E10F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505A8-1A2D-4E46-AC91-60A769BF55C3}" type="datetimeyyyy">
              <a:rPr lang="en-DE" smtClean="0"/>
              <a:t>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823177-C4B4-C80E-5104-FBA99F5B5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D78810-7E13-3FA9-8041-CA1060119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393015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C595E-5DA1-C7CC-B4B3-C113AB3C6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B5506F-DDA4-9EE0-96CD-B19172BBCA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6E2E87-EA0E-375D-02F7-5A53CE613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F1E0C-6E48-47A0-8DF6-E9B9B0413C53}" type="datetimeyyyy">
              <a:rPr lang="en-DE" smtClean="0"/>
              <a:t>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664296-CE9B-D93D-EA96-B9D97E513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43A317-66F6-314B-E308-93A9E7618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68110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EA5172-84CD-D971-F04E-2DA2A46A87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874E94-3B27-4B02-A846-148FBFEC36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8E1750-5ECC-B980-D567-6320B7509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1DD5C-EEF8-4D9A-A4B1-E3B126F70B84}" type="datetimeyyyy">
              <a:rPr lang="en-DE" smtClean="0"/>
              <a:t>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DEB5A-3E72-3B9F-34A2-E732499C5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237E9F-FB6C-A065-8937-54532D182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68454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1"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5" y="690511"/>
            <a:ext cx="5185821" cy="5253089"/>
          </a:xfrm>
        </p:spPr>
        <p:txBody>
          <a:bodyPr anchor="b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481050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E665C7-6BC9-E263-1860-516731E86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F082EA-9BA7-BF28-8CD7-A09F00D18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898D55-4E14-52C8-451F-78547F638E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A5DE80-3D5E-4BB3-8FAA-2BB85753732E}" type="datetimeyyyy">
              <a:rPr lang="en-DE" smtClean="0"/>
              <a:t>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A239E-BE55-940F-AF6A-AAD16D3DDD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Bachelor Thesis – Aqeel | Faculty of Computer Science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606592-0927-D334-9F7A-48E2736BEB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6DFED6-D6FB-4B57-A05B-1B93C2FB98E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58892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ACB9032-AC4C-6C39-9AA7-27FA6DDD4762}"/>
              </a:ext>
            </a:extLst>
          </p:cNvPr>
          <p:cNvSpPr txBox="1"/>
          <p:nvPr/>
        </p:nvSpPr>
        <p:spPr>
          <a:xfrm>
            <a:off x="377914" y="3047473"/>
            <a:ext cx="12020055" cy="126188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Bachelor Thesis </a:t>
            </a:r>
            <a:br>
              <a:rPr lang="en-DE" sz="4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3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AI-Based Face Recognition on the STM32N6570-DK Platform</a:t>
            </a:r>
            <a:endParaRPr lang="en-US" sz="40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D48E13-0FCE-D6C7-A98B-8090046465FE}"/>
              </a:ext>
            </a:extLst>
          </p:cNvPr>
          <p:cNvSpPr txBox="1"/>
          <p:nvPr/>
        </p:nvSpPr>
        <p:spPr>
          <a:xfrm>
            <a:off x="484632" y="4777710"/>
            <a:ext cx="955750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DE" dirty="0">
                <a:solidFill>
                  <a:schemeClr val="bg1"/>
                </a:solidFill>
                <a:latin typeface="Tisa Offc Serif Pro"/>
              </a:rPr>
              <a:t>Aqeel, Muazzam Bin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5B6AC1-58D5-6D2E-4CB4-48E23F197EAF}"/>
              </a:ext>
            </a:extLst>
          </p:cNvPr>
          <p:cNvCxnSpPr>
            <a:cxnSpLocks/>
          </p:cNvCxnSpPr>
          <p:nvPr/>
        </p:nvCxnSpPr>
        <p:spPr>
          <a:xfrm>
            <a:off x="484632" y="4543533"/>
            <a:ext cx="11091672" cy="0"/>
          </a:xfrm>
          <a:prstGeom prst="line">
            <a:avLst/>
          </a:prstGeom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 descr="A black and white logo&#10;&#10;AI-generated content may be incorrect.">
            <a:extLst>
              <a:ext uri="{FF2B5EF4-FFF2-40B4-BE49-F238E27FC236}">
                <a16:creationId xmlns:a16="http://schemas.microsoft.com/office/drawing/2014/main" id="{F706F5FF-47F7-8CE3-8193-64231E9AB7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33420" y="709390"/>
            <a:ext cx="944056" cy="662413"/>
          </a:xfrm>
          <a:prstGeom prst="rect">
            <a:avLst/>
          </a:prstGeom>
        </p:spPr>
      </p:pic>
      <p:pic>
        <p:nvPicPr>
          <p:cNvPr id="23" name="Picture 22" descr="A logo with a black background&#10;&#10;AI-generated content may be incorrect.">
            <a:extLst>
              <a:ext uri="{FF2B5EF4-FFF2-40B4-BE49-F238E27FC236}">
                <a16:creationId xmlns:a16="http://schemas.microsoft.com/office/drawing/2014/main" id="{0818DE42-35BE-D924-69B3-B9A9C50945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7054" y="709390"/>
            <a:ext cx="1276738" cy="662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8224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AC021-E3E2-7D8A-04A2-B1F61F476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020" y="2766218"/>
            <a:ext cx="3122580" cy="1325563"/>
          </a:xfrm>
          <a:solidFill>
            <a:schemeClr val="bg1"/>
          </a:solidFill>
        </p:spPr>
        <p:txBody>
          <a:bodyPr/>
          <a:lstStyle/>
          <a:p>
            <a:r>
              <a:rPr lang="en-DE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391B7D-FD86-5701-5187-5C6005DB54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49780" y="1415014"/>
            <a:ext cx="6426200" cy="4027970"/>
          </a:xfrm>
        </p:spPr>
        <p:txBody>
          <a:bodyPr>
            <a:normAutofit/>
          </a:bodyPr>
          <a:lstStyle/>
          <a:p>
            <a:r>
              <a:rPr lang="en-DE" sz="2400" dirty="0"/>
              <a:t>Motivation and Goals</a:t>
            </a:r>
          </a:p>
          <a:p>
            <a:r>
              <a:rPr lang="de-DE" sz="2400" dirty="0"/>
              <a:t>STM32N6570-DKBoard</a:t>
            </a:r>
            <a:endParaRPr lang="en-DE" sz="2400" dirty="0"/>
          </a:p>
          <a:p>
            <a:r>
              <a:rPr lang="de-DE" sz="2400" dirty="0"/>
              <a:t>System Overview</a:t>
            </a:r>
            <a:endParaRPr lang="en-DE" sz="2400" dirty="0"/>
          </a:p>
          <a:p>
            <a:pPr lvl="1"/>
            <a:r>
              <a:rPr lang="en-DE" sz="2000" dirty="0"/>
              <a:t>Software Pipeline:</a:t>
            </a:r>
            <a:br>
              <a:rPr lang="en-DE" sz="2000" dirty="0"/>
            </a:br>
            <a:r>
              <a:rPr lang="en-DE" sz="2000" dirty="0"/>
              <a:t>		</a:t>
            </a:r>
            <a:r>
              <a:rPr lang="de-DE" sz="2000" dirty="0"/>
              <a:t>Face Detection </a:t>
            </a:r>
            <a:r>
              <a:rPr lang="en-DE" sz="2000" dirty="0"/>
              <a:t>and</a:t>
            </a:r>
            <a:r>
              <a:rPr lang="de-DE" sz="2000" dirty="0"/>
              <a:t> Recognition</a:t>
            </a:r>
          </a:p>
          <a:p>
            <a:pPr lvl="1"/>
            <a:r>
              <a:rPr lang="de-DE" sz="2000" dirty="0"/>
              <a:t>Graphical User Interface</a:t>
            </a:r>
          </a:p>
          <a:p>
            <a:pPr lvl="1"/>
            <a:r>
              <a:rPr lang="de-DE" sz="2000" dirty="0"/>
              <a:t>Power-Saving Sleep Mode</a:t>
            </a:r>
          </a:p>
          <a:p>
            <a:pPr lvl="1"/>
            <a:r>
              <a:rPr lang="de-DE" sz="2000" dirty="0"/>
              <a:t>Cryptography </a:t>
            </a:r>
            <a:r>
              <a:rPr lang="en-DE" sz="2000" dirty="0"/>
              <a:t>and</a:t>
            </a:r>
            <a:r>
              <a:rPr lang="de-DE" sz="2000" dirty="0"/>
              <a:t> Secure Storage</a:t>
            </a:r>
          </a:p>
          <a:p>
            <a:r>
              <a:rPr lang="en-DE" sz="2400" dirty="0"/>
              <a:t>Results</a:t>
            </a:r>
          </a:p>
          <a:p>
            <a:r>
              <a:rPr lang="en-DE" sz="2400" dirty="0"/>
              <a:t>Future Improvements</a:t>
            </a:r>
          </a:p>
          <a:p>
            <a:endParaRPr lang="en-DE" sz="2400" dirty="0"/>
          </a:p>
          <a:p>
            <a:endParaRPr lang="en-DE" sz="24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C25FC1-4EC5-EC4E-032B-BB392AE38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Bachelor Thesis – Aqeel | Faculty of Computer Science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9CA19-D0ED-AF54-8054-F57040A8D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2</a:t>
            </a:fld>
            <a:endParaRPr lang="en-DE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327950D-4893-DB13-2344-11EDA5D48C58}"/>
              </a:ext>
            </a:extLst>
          </p:cNvPr>
          <p:cNvCxnSpPr>
            <a:cxnSpLocks/>
          </p:cNvCxnSpPr>
          <p:nvPr/>
        </p:nvCxnSpPr>
        <p:spPr>
          <a:xfrm>
            <a:off x="3694852" y="1659598"/>
            <a:ext cx="0" cy="3538802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55B6AF1A-A140-4E8B-B728-C52FE3B782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581" y="135995"/>
            <a:ext cx="1055255" cy="54376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8B7A86D-7CF8-5AFF-9D2E-7E27F03DA2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3718" y="136525"/>
            <a:ext cx="829606" cy="543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595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69CE5-5275-57DD-7B26-160AE4EE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D1BFB7-2A4D-D947-183F-0BC0A808F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D32101-C306-BA95-DD9C-41FB66E0D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3</a:t>
            </a:fld>
            <a:endParaRPr lang="en-D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B3B4441-1C38-3803-656E-21C973EE9864}"/>
              </a:ext>
            </a:extLst>
          </p:cNvPr>
          <p:cNvSpPr txBox="1">
            <a:spLocks/>
          </p:cNvSpPr>
          <p:nvPr/>
        </p:nvSpPr>
        <p:spPr>
          <a:xfrm>
            <a:off x="237068" y="0"/>
            <a:ext cx="11954932" cy="1690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DE" dirty="0"/>
              <a:t>Motivation and Goals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1D962AB-4251-ACF5-3691-FBFA3C0526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068" y="1690690"/>
            <a:ext cx="8038252" cy="4665660"/>
          </a:xfrm>
        </p:spPr>
        <p:txBody>
          <a:bodyPr>
            <a:normAutofit/>
          </a:bodyPr>
          <a:lstStyle/>
          <a:p>
            <a:r>
              <a:rPr lang="en-DE" sz="2400" dirty="0"/>
              <a:t>Artificial-Intelligence based Face R</a:t>
            </a:r>
            <a:r>
              <a:rPr lang="de-DE" sz="2400" dirty="0"/>
              <a:t>ecognition </a:t>
            </a:r>
            <a:endParaRPr lang="en-DE" sz="2400" dirty="0"/>
          </a:p>
          <a:p>
            <a:pPr algn="just"/>
            <a:r>
              <a:rPr lang="en-DE" sz="2400" dirty="0"/>
              <a:t>Prior thesis – </a:t>
            </a:r>
            <a:r>
              <a:rPr lang="de-DE" sz="2400" dirty="0"/>
              <a:t>Mr. Ijiehon</a:t>
            </a:r>
            <a:endParaRPr lang="en-DE" sz="2400" dirty="0"/>
          </a:p>
          <a:p>
            <a:pPr lvl="1" algn="just"/>
            <a:r>
              <a:rPr lang="en-DE" sz="2000" dirty="0"/>
              <a:t>Raspberry Pi M.2 HAT+ with Hailo-8L Based AI Accelerator</a:t>
            </a:r>
          </a:p>
          <a:p>
            <a:pPr algn="just"/>
            <a:r>
              <a:rPr lang="en-DE" sz="2400" dirty="0"/>
              <a:t>Low-power embedded system</a:t>
            </a:r>
          </a:p>
          <a:p>
            <a:pPr lvl="1" algn="just"/>
            <a:r>
              <a:rPr lang="en-DE" sz="2000" dirty="0">
                <a:solidFill>
                  <a:srgbClr val="FF0000"/>
                </a:solidFill>
              </a:rPr>
              <a:t>GUI Based Application with Two-Step Authentication</a:t>
            </a:r>
          </a:p>
          <a:p>
            <a:pPr lvl="1" algn="just"/>
            <a:r>
              <a:rPr lang="en-DE" sz="2000" dirty="0">
                <a:solidFill>
                  <a:srgbClr val="FF0000"/>
                </a:solidFill>
              </a:rPr>
              <a:t>Power Saving Mode</a:t>
            </a:r>
          </a:p>
          <a:p>
            <a:pPr lvl="1" algn="just"/>
            <a:r>
              <a:rPr lang="en-DE" sz="2000" dirty="0">
                <a:solidFill>
                  <a:srgbClr val="FF0000"/>
                </a:solidFill>
              </a:rPr>
              <a:t>Cryptographic Encryption</a:t>
            </a:r>
          </a:p>
          <a:p>
            <a:pPr lvl="1" algn="just"/>
            <a:r>
              <a:rPr lang="de-DE" sz="2000" dirty="0"/>
              <a:t>Multi-User Management</a:t>
            </a:r>
            <a:endParaRPr lang="en-DE" sz="2000" b="1" dirty="0"/>
          </a:p>
          <a:p>
            <a:pPr lvl="1" algn="just"/>
            <a:r>
              <a:rPr lang="en-GB" sz="2000" dirty="0"/>
              <a:t>External Flash Management and Automation </a:t>
            </a:r>
            <a:endParaRPr lang="en-DE" sz="2000" dirty="0"/>
          </a:p>
          <a:p>
            <a:pPr lvl="1" algn="just"/>
            <a:r>
              <a:rPr lang="de-DE" sz="2000" dirty="0"/>
              <a:t>Debug and Performance Monitoring</a:t>
            </a:r>
            <a:endParaRPr lang="en-DE" sz="2000" dirty="0"/>
          </a:p>
          <a:p>
            <a:pPr lvl="1" algn="just"/>
            <a:r>
              <a:rPr lang="de-DE" sz="2000" dirty="0"/>
              <a:t>Modular Code Architecture</a:t>
            </a:r>
            <a:endParaRPr lang="en-DE" sz="2000" dirty="0"/>
          </a:p>
          <a:p>
            <a:pPr lvl="1" algn="just"/>
            <a:endParaRPr lang="en-DE" sz="2000" dirty="0"/>
          </a:p>
          <a:p>
            <a:pPr lvl="1" algn="just"/>
            <a:endParaRPr lang="en-DE" sz="20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935A2C1-7FD6-3854-2365-52514FFD7A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2198" y="135995"/>
            <a:ext cx="1055255" cy="54376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1C5B26A-40E3-5432-7E75-8EC756AB85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9335" y="136525"/>
            <a:ext cx="829606" cy="543381"/>
          </a:xfrm>
          <a:prstGeom prst="rect">
            <a:avLst/>
          </a:prstGeom>
        </p:spPr>
      </p:pic>
      <p:pic>
        <p:nvPicPr>
          <p:cNvPr id="2054" name="Picture 6" descr="What is facial recognition?">
            <a:extLst>
              <a:ext uri="{FF2B5EF4-FFF2-40B4-BE49-F238E27FC236}">
                <a16:creationId xmlns:a16="http://schemas.microsoft.com/office/drawing/2014/main" id="{E1CB0440-2AC4-8F51-9543-F039477002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0600" y="2395062"/>
            <a:ext cx="2838592" cy="21289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9263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8A8D0-31E9-9D81-4465-B5C000483B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572CC1-5C23-3B05-79C8-10371D61D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4</a:t>
            </a:fld>
            <a:endParaRPr lang="en-D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DB3B983-F97E-ABC7-7BEF-CBE90907C102}"/>
              </a:ext>
            </a:extLst>
          </p:cNvPr>
          <p:cNvSpPr txBox="1">
            <a:spLocks/>
          </p:cNvSpPr>
          <p:nvPr/>
        </p:nvSpPr>
        <p:spPr>
          <a:xfrm>
            <a:off x="237068" y="0"/>
            <a:ext cx="11954932" cy="1690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/>
              <a:t>STM32N6570-DKBoard</a:t>
            </a:r>
            <a:endParaRPr lang="en-DE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64F4CB-B247-2AE0-CB3C-D04142FAD8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3734" y="1921278"/>
            <a:ext cx="4889820" cy="3211495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48FD5206-BD39-627D-41DE-9EF39442F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786" y="2562852"/>
            <a:ext cx="4949056" cy="1928344"/>
          </a:xfrm>
        </p:spPr>
        <p:txBody>
          <a:bodyPr>
            <a:normAutofit/>
          </a:bodyPr>
          <a:lstStyle/>
          <a:p>
            <a:r>
              <a:rPr lang="de-DE" sz="2000" dirty="0"/>
              <a:t>Arm</a:t>
            </a:r>
            <a:r>
              <a:rPr lang="en-DE" sz="2000" dirty="0"/>
              <a:t> </a:t>
            </a:r>
            <a:r>
              <a:rPr lang="de-DE" sz="2000" dirty="0"/>
              <a:t>Cortex</a:t>
            </a:r>
            <a:r>
              <a:rPr lang="en-DE" sz="2000" dirty="0"/>
              <a:t>-</a:t>
            </a:r>
            <a:r>
              <a:rPr lang="de-DE" sz="2000" dirty="0"/>
              <a:t>M55 processor</a:t>
            </a:r>
            <a:endParaRPr lang="en-DE" sz="2000" dirty="0"/>
          </a:p>
          <a:p>
            <a:r>
              <a:rPr lang="de-DE" sz="2000" dirty="0"/>
              <a:t>ST Neural-ART Accelerator</a:t>
            </a:r>
            <a:endParaRPr lang="en-DE" sz="2000" dirty="0"/>
          </a:p>
          <a:p>
            <a:r>
              <a:rPr lang="de-DE" sz="2000" dirty="0"/>
              <a:t>B-CAMS-IMX Camera</a:t>
            </a:r>
            <a:endParaRPr lang="en-DE" sz="2000" dirty="0"/>
          </a:p>
          <a:p>
            <a:r>
              <a:rPr lang="de-DE" sz="2000" dirty="0"/>
              <a:t>1 Gbit </a:t>
            </a:r>
            <a:r>
              <a:rPr lang="en-DE" sz="2000" dirty="0"/>
              <a:t> </a:t>
            </a:r>
            <a:r>
              <a:rPr lang="de-DE" sz="2000" dirty="0"/>
              <a:t>Octo-SPI Flash memory</a:t>
            </a:r>
            <a:r>
              <a:rPr lang="en-DE" sz="2000" dirty="0"/>
              <a:t> (</a:t>
            </a:r>
            <a:r>
              <a:rPr lang="de-DE" sz="2000" dirty="0"/>
              <a:t>125 MB</a:t>
            </a:r>
            <a:r>
              <a:rPr lang="en-DE" sz="2000" dirty="0"/>
              <a:t>)</a:t>
            </a:r>
            <a:endParaRPr lang="de-DE" sz="20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A67A107-FC90-7B02-6697-E8CF426306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6434" y="135995"/>
            <a:ext cx="1055255" cy="54376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407A9F1-2C0D-09EE-1D62-46ABDB2982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3571" y="136525"/>
            <a:ext cx="829606" cy="5433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4D3FD73-D26C-98B7-E02F-A02294959D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1164" y="2787816"/>
            <a:ext cx="1741050" cy="1478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5710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BE627-237A-0E0E-0CF1-060BB431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3" y="2770765"/>
            <a:ext cx="4411133" cy="1325563"/>
          </a:xfrm>
        </p:spPr>
        <p:txBody>
          <a:bodyPr/>
          <a:lstStyle/>
          <a:p>
            <a:r>
              <a:rPr lang="de-DE" dirty="0"/>
              <a:t>System Overview</a:t>
            </a:r>
            <a:endParaRPr lang="en-DE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3300D57-1990-7BAE-7678-6F1DDC4789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510743"/>
            <a:ext cx="5101757" cy="5845607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CBC97-16B4-9849-0560-0798A83CE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25905A-E319-D6A2-6F65-A3AF58611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5</a:t>
            </a:fld>
            <a:endParaRPr lang="en-DE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D84110-2475-6463-785F-98C65E3B5964}"/>
              </a:ext>
            </a:extLst>
          </p:cNvPr>
          <p:cNvCxnSpPr>
            <a:cxnSpLocks/>
          </p:cNvCxnSpPr>
          <p:nvPr/>
        </p:nvCxnSpPr>
        <p:spPr>
          <a:xfrm>
            <a:off x="5447451" y="1761198"/>
            <a:ext cx="0" cy="3538802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414E1CB7-9526-2117-8FDA-1B0910A7FF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6581" y="135995"/>
            <a:ext cx="1055255" cy="5437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1791385-C06E-5C6E-AF82-D1CF6D12D8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3718" y="136525"/>
            <a:ext cx="829606" cy="543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7847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BCEC43-0AE8-3D42-F9D0-4A8D983A5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AAC81E-856B-3634-7A06-ACC09B8C6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6</a:t>
            </a:fld>
            <a:endParaRPr lang="en-DE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C5E6D3-BA37-79F5-8048-99DF47F93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021" y="136525"/>
            <a:ext cx="7449958" cy="606552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1D34194-8CE5-D86B-F886-C8675BE42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6581" y="135995"/>
            <a:ext cx="1055255" cy="54376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C03465F-9123-ED36-BCCB-5F514B504D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3718" y="136525"/>
            <a:ext cx="829606" cy="543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438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4153E2-25F4-EA62-FC0A-1E66BF5D5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4649F4-A0B6-FE0C-BD24-51D717CAA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7</a:t>
            </a:fld>
            <a:endParaRPr lang="en-DE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BB1C8CF5-59EA-B29E-D274-2E906DFD5E7C}"/>
              </a:ext>
            </a:extLst>
          </p:cNvPr>
          <p:cNvSpPr txBox="1">
            <a:spLocks/>
          </p:cNvSpPr>
          <p:nvPr/>
        </p:nvSpPr>
        <p:spPr>
          <a:xfrm>
            <a:off x="237068" y="0"/>
            <a:ext cx="11954932" cy="1690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DE" dirty="0"/>
              <a:t>Software Pipeline:</a:t>
            </a:r>
            <a:br>
              <a:rPr lang="en-DE" dirty="0"/>
            </a:br>
            <a:r>
              <a:rPr lang="en-DE" dirty="0"/>
              <a:t>		</a:t>
            </a:r>
            <a:r>
              <a:rPr lang="de-DE" dirty="0"/>
              <a:t>Face Detection </a:t>
            </a:r>
            <a:r>
              <a:rPr lang="en-DE" dirty="0"/>
              <a:t>and</a:t>
            </a:r>
            <a:r>
              <a:rPr lang="de-DE" dirty="0"/>
              <a:t> Recognition</a:t>
            </a:r>
            <a:endParaRPr lang="en-D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92EFBD6-4F8C-FFAC-CD72-A577CB4259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6581" y="135995"/>
            <a:ext cx="1055255" cy="54376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CB14DDF-1519-40AF-26F1-1530BCF0F9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3718" y="136525"/>
            <a:ext cx="829606" cy="54338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0102D96B-6A9A-22A3-F479-0EDEA2AB05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101" y="1725764"/>
            <a:ext cx="11595798" cy="4595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3327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3AD17-BD6E-419E-D248-A5E7B0DDF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68" y="0"/>
            <a:ext cx="11954932" cy="1690690"/>
          </a:xfrm>
        </p:spPr>
        <p:txBody>
          <a:bodyPr/>
          <a:lstStyle/>
          <a:p>
            <a:r>
              <a:rPr lang="de-DE" dirty="0"/>
              <a:t>Graphical User Interface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ECB777-B77B-70AC-42BF-087F8AB2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30B2D9-206F-45DF-7866-3A7BE4D7F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8</a:t>
            </a:fld>
            <a:endParaRPr lang="en-DE"/>
          </a:p>
        </p:txBody>
      </p:sp>
      <p:pic>
        <p:nvPicPr>
          <p:cNvPr id="7" name="Content Placeholder 6" descr="A small electronic device with a camera attached to it&#10;&#10;AI-generated content may be incorrect.">
            <a:extLst>
              <a:ext uri="{FF2B5EF4-FFF2-40B4-BE49-F238E27FC236}">
                <a16:creationId xmlns:a16="http://schemas.microsoft.com/office/drawing/2014/main" id="{15043483-61AF-6F8E-6507-A4A75906AC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717" y="1690690"/>
            <a:ext cx="4201366" cy="43541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 descr="A small electronic device with a screen&#10;&#10;AI-generated content may be incorrect.">
            <a:extLst>
              <a:ext uri="{FF2B5EF4-FFF2-40B4-BE49-F238E27FC236}">
                <a16:creationId xmlns:a16="http://schemas.microsoft.com/office/drawing/2014/main" id="{083FF2A6-DE6B-9536-FDEF-D978952A57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9916" y="1690690"/>
            <a:ext cx="4201367" cy="43541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1DCCF01-6241-E661-EF76-DD5FB1C6C2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6581" y="135995"/>
            <a:ext cx="1055255" cy="54376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8D5C03-7EAC-37EC-64CC-9CC77058AE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718" y="136525"/>
            <a:ext cx="829606" cy="543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5679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9BC229-6FD5-D0E6-7AF0-51BC817A5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5A173C-0D89-10C0-574F-CF35C90C1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9</a:t>
            </a:fld>
            <a:endParaRPr lang="en-DE"/>
          </a:p>
        </p:txBody>
      </p:sp>
      <p:pic>
        <p:nvPicPr>
          <p:cNvPr id="16" name="Picture 15" descr="A small electronic device with a screen&#10;&#10;AI-generated content may be incorrect.">
            <a:extLst>
              <a:ext uri="{FF2B5EF4-FFF2-40B4-BE49-F238E27FC236}">
                <a16:creationId xmlns:a16="http://schemas.microsoft.com/office/drawing/2014/main" id="{2847DB2A-547A-A9CE-E1EA-4185CE7C12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5911" y="1690690"/>
            <a:ext cx="4489377" cy="43541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 descr="A small electronic device with a screen&#10;&#10;AI-generated content may be incorrect.">
            <a:extLst>
              <a:ext uri="{FF2B5EF4-FFF2-40B4-BE49-F238E27FC236}">
                <a16:creationId xmlns:a16="http://schemas.microsoft.com/office/drawing/2014/main" id="{9E3A82B9-27EB-47DD-4A8C-60BF9B0F6C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4175" y="1690690"/>
            <a:ext cx="4531915" cy="435419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0" name="Title 1">
            <a:extLst>
              <a:ext uri="{FF2B5EF4-FFF2-40B4-BE49-F238E27FC236}">
                <a16:creationId xmlns:a16="http://schemas.microsoft.com/office/drawing/2014/main" id="{2590EF6E-9C65-F14F-EC20-F272960BB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68" y="0"/>
            <a:ext cx="11954932" cy="1690690"/>
          </a:xfrm>
        </p:spPr>
        <p:txBody>
          <a:bodyPr/>
          <a:lstStyle/>
          <a:p>
            <a:r>
              <a:rPr lang="de-DE" dirty="0"/>
              <a:t>Graphical User Interface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45D5A979-28B8-3F7D-EB4F-3881F88B04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6581" y="135995"/>
            <a:ext cx="1055255" cy="54376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6D9AFA3-0116-2335-5C56-0E625E06C2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718" y="136525"/>
            <a:ext cx="829606" cy="543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4079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D477EA-4D7E-B909-B772-DF494CA9D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58C9D8-EF1D-934A-3146-EE30F65A3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10</a:t>
            </a:fld>
            <a:endParaRPr lang="en-DE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066D617-B52C-2D0C-3419-7ECE6DDF991A}"/>
              </a:ext>
            </a:extLst>
          </p:cNvPr>
          <p:cNvSpPr txBox="1">
            <a:spLocks/>
          </p:cNvSpPr>
          <p:nvPr/>
        </p:nvSpPr>
        <p:spPr>
          <a:xfrm>
            <a:off x="237068" y="0"/>
            <a:ext cx="11954932" cy="1690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Graphical User Interface</a:t>
            </a:r>
            <a:endParaRPr lang="en-DE" dirty="0"/>
          </a:p>
        </p:txBody>
      </p:sp>
      <p:pic>
        <p:nvPicPr>
          <p:cNvPr id="21" name="Picture 20" descr="A blue electronic device with a screen and a camera&#10;&#10;AI-generated content may be incorrect.">
            <a:extLst>
              <a:ext uri="{FF2B5EF4-FFF2-40B4-BE49-F238E27FC236}">
                <a16:creationId xmlns:a16="http://schemas.microsoft.com/office/drawing/2014/main" id="{4FDA13A6-37C2-3084-EAF6-E747B1619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388" y="1829532"/>
            <a:ext cx="4552053" cy="43879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2" name="Picture 21" descr="A small electronic device with a screen&#10;&#10;AI-generated content may be incorrect.">
            <a:extLst>
              <a:ext uri="{FF2B5EF4-FFF2-40B4-BE49-F238E27FC236}">
                <a16:creationId xmlns:a16="http://schemas.microsoft.com/office/drawing/2014/main" id="{23A0CA67-DF93-489A-EBA5-7845B05811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022" y="1852014"/>
            <a:ext cx="4531155" cy="43513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836D72-FFB1-DF86-DB38-3FFC153A9B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6581" y="135995"/>
            <a:ext cx="1055255" cy="5437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C8A60AA-B513-9286-8B8D-6DB09AF408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718" y="136525"/>
            <a:ext cx="829606" cy="543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0415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86E256-6DBA-274C-BC5B-6AC1FED31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DCA182-99E0-AD56-2791-6660027E8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11</a:t>
            </a:fld>
            <a:endParaRPr lang="en-D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144321-1949-7B82-CE36-A08E30D72A06}"/>
              </a:ext>
            </a:extLst>
          </p:cNvPr>
          <p:cNvSpPr txBox="1">
            <a:spLocks/>
          </p:cNvSpPr>
          <p:nvPr/>
        </p:nvSpPr>
        <p:spPr>
          <a:xfrm>
            <a:off x="237068" y="0"/>
            <a:ext cx="11954932" cy="1690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Power-Saving Sleep Mode</a:t>
            </a:r>
            <a:endParaRPr lang="en-D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E01BDF-9290-DE43-3875-64571F0B3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581" y="135995"/>
            <a:ext cx="1055255" cy="5437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FB43A-AFE4-EC4A-CDB5-A015B391B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3718" y="136525"/>
            <a:ext cx="829606" cy="543381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DF23BC5-BE82-9596-77F0-06205068D3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303264" cy="4351338"/>
          </a:xfrm>
        </p:spPr>
        <p:txBody>
          <a:bodyPr/>
          <a:lstStyle/>
          <a:p>
            <a:r>
              <a:rPr lang="de-DE" dirty="0"/>
              <a:t>Event-driven Custom Sleep Mode </a:t>
            </a:r>
            <a:endParaRPr lang="en-DE" dirty="0"/>
          </a:p>
          <a:p>
            <a:pPr lvl="1"/>
            <a:r>
              <a:rPr lang="en-DE" dirty="0"/>
              <a:t>Camera paused</a:t>
            </a:r>
          </a:p>
          <a:p>
            <a:pPr lvl="1"/>
            <a:r>
              <a:rPr lang="en-DE" dirty="0"/>
              <a:t>Display Controller paused</a:t>
            </a:r>
          </a:p>
          <a:p>
            <a:pPr lvl="1"/>
            <a:r>
              <a:rPr lang="en-DE" dirty="0"/>
              <a:t>Backlight paused</a:t>
            </a:r>
          </a:p>
          <a:p>
            <a:r>
              <a:rPr lang="de-DE" dirty="0"/>
              <a:t>System State Preserved</a:t>
            </a:r>
            <a:endParaRPr lang="en-DE" dirty="0"/>
          </a:p>
          <a:p>
            <a:r>
              <a:rPr lang="de-DE" dirty="0"/>
              <a:t>Wake-Up Trigger</a:t>
            </a:r>
            <a:endParaRPr lang="en-DE" dirty="0"/>
          </a:p>
          <a:p>
            <a:pPr lvl="1"/>
            <a:r>
              <a:rPr lang="en-GB" dirty="0"/>
              <a:t>Touchscreen interrupt reacts instantly</a:t>
            </a:r>
          </a:p>
          <a:p>
            <a:pPr lvl="1"/>
            <a:r>
              <a:rPr lang="en-GB" dirty="0"/>
              <a:t>Restores </a:t>
            </a:r>
            <a:endParaRPr lang="en-DE" dirty="0"/>
          </a:p>
          <a:p>
            <a:pPr lvl="2"/>
            <a:r>
              <a:rPr lang="en-DE" dirty="0"/>
              <a:t>C</a:t>
            </a:r>
            <a:r>
              <a:rPr lang="en-GB" dirty="0"/>
              <a:t>amera, </a:t>
            </a:r>
            <a:r>
              <a:rPr lang="en-DE" dirty="0"/>
              <a:t>D</a:t>
            </a:r>
            <a:r>
              <a:rPr lang="en-GB" dirty="0"/>
              <a:t>isplay and </a:t>
            </a:r>
            <a:r>
              <a:rPr lang="en-DE" dirty="0"/>
              <a:t>B</a:t>
            </a:r>
            <a:r>
              <a:rPr lang="en-GB" dirty="0"/>
              <a:t>acklight</a:t>
            </a:r>
          </a:p>
          <a:p>
            <a:pPr lvl="1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140671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7DA9D-25BF-D7B3-6EB4-4DFC64B459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540" y="1919290"/>
            <a:ext cx="6175248" cy="3349879"/>
          </a:xfrm>
        </p:spPr>
        <p:txBody>
          <a:bodyPr/>
          <a:lstStyle/>
          <a:p>
            <a:pPr marL="0" indent="0">
              <a:buNone/>
            </a:pPr>
            <a:r>
              <a:rPr lang="en-DE"/>
              <a:t>Encryption (Features)</a:t>
            </a:r>
            <a:endParaRPr lang="en-DE" dirty="0"/>
          </a:p>
          <a:p>
            <a:pPr lvl="1"/>
            <a:r>
              <a:rPr lang="en-DE" dirty="0"/>
              <a:t>Unique Identifier key (UID)</a:t>
            </a:r>
          </a:p>
          <a:p>
            <a:pPr lvl="1"/>
            <a:r>
              <a:rPr lang="en-DE" dirty="0"/>
              <a:t>AES Encryption</a:t>
            </a:r>
          </a:p>
          <a:p>
            <a:pPr lvl="1"/>
            <a:r>
              <a:rPr lang="en-DE" dirty="0"/>
              <a:t>Process</a:t>
            </a:r>
          </a:p>
          <a:p>
            <a:pPr lvl="2"/>
            <a:r>
              <a:rPr lang="en-GB" dirty="0"/>
              <a:t>Extract UID</a:t>
            </a:r>
          </a:p>
          <a:p>
            <a:pPr lvl="2"/>
            <a:r>
              <a:rPr lang="en-GB" dirty="0"/>
              <a:t>Encrypt AES keys using the UID-derived key</a:t>
            </a:r>
          </a:p>
          <a:p>
            <a:pPr lvl="2"/>
            <a:r>
              <a:rPr lang="en-GB" dirty="0"/>
              <a:t>Encrypt face embeddings and PIN</a:t>
            </a:r>
          </a:p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31B53-4B7C-D8AC-57E9-EE78B17F6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89B02-9FB6-DDB7-6501-60C19F9AB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12</a:t>
            </a:fld>
            <a:endParaRPr lang="en-D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5021D61-6A5D-D8E1-EFCA-9F10AEE3CEE1}"/>
              </a:ext>
            </a:extLst>
          </p:cNvPr>
          <p:cNvSpPr txBox="1">
            <a:spLocks/>
          </p:cNvSpPr>
          <p:nvPr/>
        </p:nvSpPr>
        <p:spPr>
          <a:xfrm>
            <a:off x="237068" y="0"/>
            <a:ext cx="11954932" cy="1690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Cryptography </a:t>
            </a:r>
            <a:r>
              <a:rPr lang="en-DE" dirty="0"/>
              <a:t>and</a:t>
            </a:r>
            <a:r>
              <a:rPr lang="de-DE" dirty="0"/>
              <a:t> Secure Storage</a:t>
            </a:r>
            <a:endParaRPr lang="en-D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EC9D638-9ADE-999F-CC9C-324D93A977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581" y="135995"/>
            <a:ext cx="1055255" cy="5437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6AEEE70-D2F9-3238-CFD8-C0D957DD2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3718" y="136525"/>
            <a:ext cx="829606" cy="5433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8E6B9D-CCA6-6C9F-34C3-0491E14DFA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3663" y="1279426"/>
            <a:ext cx="4010055" cy="462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798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7EADDC-8B0A-09EF-F68B-5F445F2B3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A33EBF-4782-6561-0F5B-7DD9A54D4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13</a:t>
            </a:fld>
            <a:endParaRPr lang="en-D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AF74C0-5085-B012-104F-0CE815CDA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241" y="136525"/>
            <a:ext cx="4713559" cy="618134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97151E2-1F74-2E4E-A8E0-74F7597FA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1684" y="2766218"/>
            <a:ext cx="1847083" cy="1325563"/>
          </a:xfrm>
        </p:spPr>
        <p:txBody>
          <a:bodyPr>
            <a:normAutofit/>
          </a:bodyPr>
          <a:lstStyle/>
          <a:p>
            <a:r>
              <a:rPr lang="en-DE" sz="2800" dirty="0"/>
              <a:t>Decryption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0D4F6C3-6F7A-88A8-17C9-C2C0EAD3480D}"/>
              </a:ext>
            </a:extLst>
          </p:cNvPr>
          <p:cNvCxnSpPr>
            <a:cxnSpLocks/>
          </p:cNvCxnSpPr>
          <p:nvPr/>
        </p:nvCxnSpPr>
        <p:spPr>
          <a:xfrm>
            <a:off x="5063403" y="1729352"/>
            <a:ext cx="0" cy="3538802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94216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5A99C1-F83A-7E94-417E-729D1F5E45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AB3623-97E5-EF07-D359-EDF37E5C0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E94E5B-146F-3802-CD85-20EBC1CE1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14</a:t>
            </a:fld>
            <a:endParaRPr lang="en-D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5F559D6-A58E-8026-9703-D7875490FE80}"/>
              </a:ext>
            </a:extLst>
          </p:cNvPr>
          <p:cNvSpPr txBox="1">
            <a:spLocks/>
          </p:cNvSpPr>
          <p:nvPr/>
        </p:nvSpPr>
        <p:spPr>
          <a:xfrm>
            <a:off x="237068" y="0"/>
            <a:ext cx="11954932" cy="1690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DE" dirty="0"/>
              <a:t>Results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14C794-CCB8-1381-4C0C-DEF1CD889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581" y="135995"/>
            <a:ext cx="1055255" cy="5437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880EF3-2E4B-F812-34A3-53E62BCB4D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3718" y="136525"/>
            <a:ext cx="829606" cy="543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2583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65D3-0D5B-67D5-976E-0E19D7036E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03A058-5E64-9696-08EA-7C3AA6FD7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Bachelor Thesis – Aqeel | Faculty of Computer Science</a:t>
            </a:r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F0ED9-17B3-252B-1390-3DDE99901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DFED6-D6FB-4B57-A05B-1B93C2FB98E0}" type="slidenum">
              <a:rPr lang="en-DE" smtClean="0"/>
              <a:t>15</a:t>
            </a:fld>
            <a:endParaRPr lang="en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33086E-2A39-6765-F069-178877BC3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581" y="135995"/>
            <a:ext cx="1055255" cy="5437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84AB3C1-1605-E343-D85B-FAF75E730D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3718" y="136525"/>
            <a:ext cx="829606" cy="543381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92C7E1E5-F45E-3C56-D53A-2E7083D8D63F}"/>
              </a:ext>
            </a:extLst>
          </p:cNvPr>
          <p:cNvSpPr txBox="1">
            <a:spLocks/>
          </p:cNvSpPr>
          <p:nvPr/>
        </p:nvSpPr>
        <p:spPr>
          <a:xfrm>
            <a:off x="178676" y="0"/>
            <a:ext cx="11954932" cy="1690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DE" dirty="0"/>
              <a:t>F</a:t>
            </a:r>
            <a:r>
              <a:rPr lang="de-DE" dirty="0"/>
              <a:t>uture </a:t>
            </a:r>
            <a:r>
              <a:rPr lang="en-DE" dirty="0"/>
              <a:t>I</a:t>
            </a:r>
            <a:r>
              <a:rPr lang="de-DE" dirty="0"/>
              <a:t>mprovements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507366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42B3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C438A-3B42-DFCD-E197-723F334D6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C593346-AAE9-7ADB-759A-5D2C52793C4B}"/>
              </a:ext>
            </a:extLst>
          </p:cNvPr>
          <p:cNvSpPr txBox="1"/>
          <p:nvPr/>
        </p:nvSpPr>
        <p:spPr>
          <a:xfrm>
            <a:off x="-1" y="3364616"/>
            <a:ext cx="12192001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</a:t>
            </a:r>
            <a:r>
              <a:rPr lang="en-DE" sz="4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hank you</a:t>
            </a:r>
            <a:endParaRPr lang="en-US" sz="40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E2BDC8-663F-6DE5-099A-5B63AB3A880E}"/>
              </a:ext>
            </a:extLst>
          </p:cNvPr>
          <p:cNvCxnSpPr>
            <a:cxnSpLocks/>
          </p:cNvCxnSpPr>
          <p:nvPr/>
        </p:nvCxnSpPr>
        <p:spPr>
          <a:xfrm>
            <a:off x="484632" y="4543533"/>
            <a:ext cx="11091672" cy="0"/>
          </a:xfrm>
          <a:prstGeom prst="line">
            <a:avLst/>
          </a:prstGeom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 descr="A black and white logo&#10;&#10;AI-generated content may be incorrect.">
            <a:extLst>
              <a:ext uri="{FF2B5EF4-FFF2-40B4-BE49-F238E27FC236}">
                <a16:creationId xmlns:a16="http://schemas.microsoft.com/office/drawing/2014/main" id="{A156177B-EA36-562E-5CF7-12523A5019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33420" y="709390"/>
            <a:ext cx="944056" cy="662413"/>
          </a:xfrm>
          <a:prstGeom prst="rect">
            <a:avLst/>
          </a:prstGeom>
        </p:spPr>
      </p:pic>
      <p:pic>
        <p:nvPicPr>
          <p:cNvPr id="23" name="Picture 22" descr="A logo with a black background&#10;&#10;AI-generated content may be incorrect.">
            <a:extLst>
              <a:ext uri="{FF2B5EF4-FFF2-40B4-BE49-F238E27FC236}">
                <a16:creationId xmlns:a16="http://schemas.microsoft.com/office/drawing/2014/main" id="{E02E6E54-A28E-E2BE-4F15-5A589E8654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7054" y="709390"/>
            <a:ext cx="1276738" cy="662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9395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2955</TotalTime>
  <Words>352</Words>
  <Application>Microsoft Office PowerPoint</Application>
  <PresentationFormat>Widescreen</PresentationFormat>
  <Paragraphs>85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Tisa Offc Serif Pro</vt:lpstr>
      <vt:lpstr>Office Theme</vt:lpstr>
      <vt:lpstr>PowerPoint Presentation</vt:lpstr>
      <vt:lpstr>Agenda</vt:lpstr>
      <vt:lpstr>PowerPoint Presentation</vt:lpstr>
      <vt:lpstr>PowerPoint Presentation</vt:lpstr>
      <vt:lpstr>System Overview</vt:lpstr>
      <vt:lpstr>PowerPoint Presentation</vt:lpstr>
      <vt:lpstr>PowerPoint Presentation</vt:lpstr>
      <vt:lpstr>Graphical User Interface</vt:lpstr>
      <vt:lpstr>Graphical User Interface</vt:lpstr>
      <vt:lpstr>PowerPoint Presentation</vt:lpstr>
      <vt:lpstr>PowerPoint Presentation</vt:lpstr>
      <vt:lpstr>PowerPoint Presentation</vt:lpstr>
      <vt:lpstr>Decryption 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Aqeel, Muazzam Bin</dc:creator>
  <cp:lastModifiedBy>Aqeel, Muazzam Bin</cp:lastModifiedBy>
  <cp:revision>18</cp:revision>
  <dcterms:created xsi:type="dcterms:W3CDTF">2025-12-02T19:32:56Z</dcterms:created>
  <dcterms:modified xsi:type="dcterms:W3CDTF">2025-12-06T16:23:25Z</dcterms:modified>
</cp:coreProperties>
</file>